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SaaS marketing strategy kickoff. Our key focus is maximizing distribution value by designing custom acquisition engines.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outlines our agenda: Ideal Customer Profiles, Topical Search authority, Paid Acquisition, and Landing Page conversion optimizations.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Understanding the target audience reduces marketing wastage. We speak directly to business efficiency and developer resource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SEO compounds over time. By focusing on intent and conversion, we drive down long-term CAC.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Paid acquisition combines search intent with precise account targeting to fill the pipe with high-intent buyers.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shifting from sales-led to product-led loops, user sharing loops act as our secondary referral marketing strategy.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Improving conversion rate across funnel steps has a multiplier effect on SaaS acquisition pipelines.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numbers represent the financial health of the marketing engine. High NRR and LTV-to-CAC ensure profitability.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strategic implementation path moves from tracking infrastructure setup to scaling high-intent acquisition campaigns.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summarize the immediate next steps to kick off the execution plan and schedule the consulting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Poppins"/>
              </a:defRPr>
            </a:pPr>
            <a:r>
              <a:t>DIGITAL MARKETING STRATEGY</a:t>
            </a:r>
          </a:p>
          <a:p>
            <a:pPr algn="l">
              <a:defRPr sz="4800" b="1">
                <a:solidFill>
                  <a:srgbClr val="06B6D4"/>
                </a:solidFill>
                <a:latin typeface="Poppins"/>
              </a:defRPr>
            </a:pPr>
            <a:r>
              <a:t>FOR SAAS STARTUPS</a:t>
            </a:r>
          </a:p>
          <a:p>
            <a:pPr algn="l">
              <a:spcBef>
                <a:spcPts val="3000"/>
              </a:spcBef>
              <a:defRPr sz="2000">
                <a:solidFill>
                  <a:srgbClr val="E0E7FF"/>
                </a:solidFill>
                <a:latin typeface="Inter"/>
              </a:defRPr>
            </a:pPr>
            <a:r>
              <a:t>Scale your audience, lower CAC, and drive sustainable growth.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t>STRATEGY OVERVIEW &amp; AGENDA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2423160" cy="384048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3200" b="1">
                <a:solidFill>
                  <a:srgbClr val="06B6D4"/>
                </a:solidFill>
                <a:latin typeface="Poppins"/>
              </a:defRPr>
            </a:pPr>
            <a:r>
              <a:t>01</a:t>
            </a:r>
          </a:p>
          <a:p>
            <a:pPr>
              <a:spcBef>
                <a:spcPts val="1400"/>
              </a:spcBef>
              <a:defRPr sz="2000" b="1">
                <a:solidFill>
                  <a:srgbClr val="FFFFFF"/>
                </a:solidFill>
                <a:latin typeface="Poppins"/>
              </a:defRPr>
            </a:pPr>
            <a:r>
              <a:t>Target ICP</a:t>
            </a:r>
          </a:p>
          <a:p>
            <a:pPr>
              <a:spcBef>
                <a:spcPts val="1000"/>
              </a:spcBef>
              <a:defRPr sz="1300">
                <a:solidFill>
                  <a:srgbClr val="E0E7FF"/>
                </a:solidFill>
                <a:latin typeface="Inter"/>
              </a:defRPr>
            </a:pPr>
            <a:r>
              <a:t>Identify high-value user personas for sales alignment.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2011680"/>
            <a:ext cx="2423160" cy="384048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3200" b="1">
                <a:solidFill>
                  <a:srgbClr val="06B6D4"/>
                </a:solidFill>
                <a:latin typeface="Poppins"/>
              </a:defRPr>
            </a:pPr>
            <a:r>
              <a:t>02</a:t>
            </a:r>
          </a:p>
          <a:p>
            <a:pPr>
              <a:spcBef>
                <a:spcPts val="1400"/>
              </a:spcBef>
              <a:defRPr sz="2000" b="1">
                <a:solidFill>
                  <a:srgbClr val="FFFFFF"/>
                </a:solidFill>
                <a:latin typeface="Poppins"/>
              </a:defRPr>
            </a:pPr>
            <a:r>
              <a:t>SEO Engine</a:t>
            </a:r>
          </a:p>
          <a:p>
            <a:pPr>
              <a:spcBef>
                <a:spcPts val="1000"/>
              </a:spcBef>
              <a:defRPr sz="1300">
                <a:solidFill>
                  <a:srgbClr val="E0E7FF"/>
                </a:solidFill>
                <a:latin typeface="Inter"/>
              </a:defRPr>
            </a:pPr>
            <a:r>
              <a:t>Produce bottom-of-funnel keywords to capture target 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011680"/>
            <a:ext cx="2423160" cy="384048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3200" b="1">
                <a:solidFill>
                  <a:srgbClr val="06B6D4"/>
                </a:solidFill>
                <a:latin typeface="Poppins"/>
              </a:defRPr>
            </a:pPr>
            <a:r>
              <a:t>03</a:t>
            </a:r>
          </a:p>
          <a:p>
            <a:pPr>
              <a:spcBef>
                <a:spcPts val="1400"/>
              </a:spcBef>
              <a:defRPr sz="2000" b="1">
                <a:solidFill>
                  <a:srgbClr val="FFFFFF"/>
                </a:solidFill>
                <a:latin typeface="Poppins"/>
              </a:defRPr>
            </a:pPr>
            <a:r>
              <a:t>Paid Channels</a:t>
            </a:r>
          </a:p>
          <a:p>
            <a:pPr>
              <a:spcBef>
                <a:spcPts val="1000"/>
              </a:spcBef>
              <a:defRPr sz="1300">
                <a:solidFill>
                  <a:srgbClr val="E0E7FF"/>
                </a:solidFill>
                <a:latin typeface="Inter"/>
              </a:defRPr>
            </a:pPr>
            <a:r>
              <a:t>Scale search campaigns and dynamic social remarketing.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2011680"/>
            <a:ext cx="2423160" cy="384048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74320"/>
          <a:lstStyle/>
          <a:p>
            <a:pPr algn="ctr">
              <a:defRPr sz="3200" b="1">
                <a:solidFill>
                  <a:srgbClr val="06B6D4"/>
                </a:solidFill>
                <a:latin typeface="Poppins"/>
              </a:defRPr>
            </a:pPr>
            <a:r>
              <a:t>04</a:t>
            </a:r>
          </a:p>
          <a:p>
            <a:pPr>
              <a:spcBef>
                <a:spcPts val="1400"/>
              </a:spcBef>
              <a:defRPr sz="2000" b="1">
                <a:solidFill>
                  <a:srgbClr val="FFFFFF"/>
                </a:solidFill>
                <a:latin typeface="Poppins"/>
              </a:defRPr>
            </a:pPr>
            <a:r>
              <a:t>Funnel CRO</a:t>
            </a:r>
          </a:p>
          <a:p>
            <a:pPr>
              <a:spcBef>
                <a:spcPts val="1000"/>
              </a:spcBef>
              <a:defRPr sz="1300">
                <a:solidFill>
                  <a:srgbClr val="E0E7FF"/>
                </a:solidFill>
                <a:latin typeface="Inter"/>
              </a:defRPr>
            </a:pPr>
            <a:r>
              <a:t>Optimize conversion steps and onboarding pathways.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t>DEFINING THE SAAS TARGET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6B6D4"/>
                </a:solidFill>
                <a:latin typeface="Poppins"/>
              </a:defRPr>
            </a:pPr>
            <a:r>
              <a:t>Ideal Customer Profile (ICP) Criteria: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Inter"/>
              </a:defRPr>
            </a:pPr>
            <a:r>
              <a:t>• Laser-Focus: Target marketing decision makers (VP Marketing, CMOs, CTOs).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Inter"/>
              </a:defRPr>
            </a:pPr>
            <a:r>
              <a:t>• Company Size: B2B companies with 50-200 employees.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Inter"/>
              </a:defRPr>
            </a:pPr>
            <a:r>
              <a:t>• Revenue Base: Mid-market SaaS segments between $10M-$50M ARR.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Inter"/>
              </a:defRPr>
            </a:pPr>
            <a:r>
              <a:t>• Pain Points: System integrations, security, and developer productivity.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0" y="2011680"/>
            <a:ext cx="4389120" cy="3840480"/>
          </a:xfrm>
          <a:prstGeom prst="rect">
            <a:avLst/>
          </a:prstGeom>
          <a:solidFill>
            <a:srgbClr val="1E40A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2000" b="1">
                <a:solidFill>
                  <a:srgbClr val="06B6D4"/>
                </a:solidFill>
                <a:latin typeface="Poppins"/>
              </a:defRPr>
            </a:pPr>
            <a:r>
              <a:t>Persona Summary</a:t>
            </a:r>
          </a:p>
          <a:p>
            <a:pPr>
              <a:spcBef>
                <a:spcPts val="1500"/>
              </a:spcBef>
              <a:defRPr sz="1400">
                <a:solidFill>
                  <a:srgbClr val="FFFFFF"/>
                </a:solidFill>
                <a:latin typeface="Inter"/>
              </a:defRPr>
            </a:pPr>
            <a:r>
              <a:t>Our target accounts have existing budgets but suffer from integration bottlenecks. We pitch speed-to-value as our core advantage over legacy players.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t>TOPICAL AUTHORITY &amp; SEO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91840" cy="384048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06B6D4"/>
                </a:solidFill>
                <a:latin typeface="Poppins"/>
              </a:defRPr>
            </a:pPr>
            <a:r>
              <a:t>01. Bottom-of-Funnel Focus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Inter"/>
              </a:defRPr>
            </a:pPr>
            <a:r>
              <a:t>Prioritize software comparison sheets and alternative pages to target transactional keyword intents.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291840" cy="384048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06B6D4"/>
                </a:solidFill>
                <a:latin typeface="Poppins"/>
              </a:defRPr>
            </a:pPr>
            <a:r>
              <a:t>02. Hub &amp; Spoke Structure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Inter"/>
              </a:defRPr>
            </a:pPr>
            <a:r>
              <a:t>Design key resource landing hubs supported by hyper-targeted sub-articles.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011680"/>
            <a:ext cx="3291840" cy="384048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06B6D4"/>
                </a:solidFill>
                <a:latin typeface="Poppins"/>
              </a:defRPr>
            </a:pPr>
            <a:r>
              <a:t>03. Inline CTA Capture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Inter"/>
              </a:defRPr>
            </a:pPr>
            <a:r>
              <a:t>Integrate contextual signups and sandbox testing environments directly within the text layout.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t>PAID ACQUISITION &amp; ABM CAMPAIGNS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4846320" cy="3840480"/>
          </a:xfrm>
          <a:prstGeom prst="rect">
            <a:avLst/>
          </a:prstGeom>
          <a:solidFill>
            <a:srgbClr val="1E40AF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2000" b="1">
                <a:solidFill>
                  <a:srgbClr val="06B6D4"/>
                </a:solidFill>
                <a:latin typeface="Poppins"/>
              </a:defRPr>
            </a:pPr>
            <a:r>
              <a:t>Google Ads &amp; Search Intent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Inter"/>
              </a:defRPr>
            </a:pPr>
            <a:r>
              <a:t>• Target competitor term bids to capture searching prospects.</a:t>
            </a:r>
            <a:br/>
            <a:r>
              <a:t>• Send traffic to highly optimized standalone landers.</a:t>
            </a:r>
            <a:br/>
            <a:r>
              <a:t>• Capture immediate buyer intent efficiently.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2011680"/>
            <a:ext cx="4846320" cy="3840480"/>
          </a:xfrm>
          <a:prstGeom prst="rect">
            <a:avLst/>
          </a:prstGeom>
          <a:solidFill>
            <a:srgbClr val="1E40AF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2000" b="1">
                <a:solidFill>
                  <a:srgbClr val="06B6D4"/>
                </a:solidFill>
                <a:latin typeface="Poppins"/>
              </a:defRPr>
            </a:pPr>
            <a:r>
              <a:t>LinkedIn Account Targeting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Inter"/>
              </a:defRPr>
            </a:pPr>
            <a:r>
              <a:t>• Upload specific target account matrices for zero-waste spend.</a:t>
            </a:r>
            <a:br/>
            <a:r>
              <a:t>• Serve case studies displaying clear economic ROI calculations.</a:t>
            </a:r>
            <a:br/>
            <a:r>
              <a:t>• Distribute highly useful, download-ready resources.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t>PRODUCT-LED GROWTH (PLG) LOOPS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91840" cy="384048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06B6D4"/>
                </a:solidFill>
                <a:latin typeface="Poppins"/>
              </a:defRPr>
            </a:pPr>
            <a:r>
              <a:t>Fast Aha! Moment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Inter"/>
              </a:defRPr>
            </a:pPr>
            <a:r>
              <a:t>Deliver instant platform utility without requiring lengthy signup or onboarding documentation.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291840" cy="384048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06B6D4"/>
                </a:solidFill>
                <a:latin typeface="Poppins"/>
              </a:defRPr>
            </a:pPr>
            <a:r>
              <a:t>Viral Referral Loops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Inter"/>
              </a:defRPr>
            </a:pPr>
            <a:r>
              <a:t>Encourage team invitations and joint sharing directly from workspace panels.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011680"/>
            <a:ext cx="3291840" cy="384048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/>
          <a:lstStyle/>
          <a:p>
            <a:pPr algn="ctr">
              <a:defRPr sz="1800" b="1">
                <a:solidFill>
                  <a:srgbClr val="06B6D4"/>
                </a:solidFill>
                <a:latin typeface="Poppins"/>
              </a:defRPr>
            </a:pPr>
            <a:r>
              <a:t>Value-Based Tiers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  <a:latin typeface="Inter"/>
              </a:defRPr>
            </a:pPr>
            <a:r>
              <a:t>Link pricing plans directly to feature usage bounds and workspace seat growth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t>OPTIMIZING CONVERSION FUNNELS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62895" cy="3840480"/>
          </a:xfrm>
          <a:prstGeom prst="rect">
            <a:avLst/>
          </a:prstGeom>
          <a:solidFill>
            <a:srgbClr val="1E40AF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457200"/>
          <a:lstStyle/>
          <a:p>
            <a:pPr algn="ctr">
              <a:defRPr sz="2200" b="1">
                <a:solidFill>
                  <a:srgbClr val="06B6D4"/>
                </a:solidFill>
                <a:latin typeface="Poppins"/>
              </a:defRPr>
            </a:pPr>
            <a:r>
              <a:t>Strategic Conversion Optimizations: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  <a:latin typeface="Inter"/>
              </a:defRPr>
            </a:pPr>
            <a:r>
              <a:t>• Simplifying Registration Flows: Strip out initial setup queries to lower signup friction.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  <a:latin typeface="Inter"/>
              </a:defRPr>
            </a:pPr>
            <a:r>
              <a:t>• Interactive Demos: Add sandbox environments directly to landing page blocks.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  <a:latin typeface="Inter"/>
              </a:defRPr>
            </a:pPr>
            <a:r>
              <a:t>• Targeted A/B Testing: Run ongoing headline, CTA, and social proof tests.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t>NORTH STAR MARKETING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0"/>
          <a:lstStyle/>
          <a:p>
            <a:pPr algn="ctr">
              <a:defRPr sz="1200" b="1">
                <a:solidFill>
                  <a:srgbClr val="2563EB"/>
                </a:solidFill>
                <a:latin typeface="Inter"/>
              </a:defRPr>
            </a:pPr>
            <a:r>
              <a:t>LTV TO CAC RATIO</a:t>
            </a:r>
          </a:p>
          <a:p>
            <a:pPr algn="ctr">
              <a:spcBef>
                <a:spcPts val="2000"/>
              </a:spcBef>
              <a:defRPr sz="4400" b="1">
                <a:solidFill>
                  <a:srgbClr val="1E40AF"/>
                </a:solidFill>
                <a:latin typeface="Poppins"/>
              </a:defRPr>
            </a:pPr>
            <a:r>
              <a:t>4.2 : 1</a:t>
            </a:r>
          </a:p>
          <a:p>
            <a:pPr algn="ctr">
              <a:spcBef>
                <a:spcPts val="2000"/>
              </a:spcBef>
              <a:defRPr sz="1200" b="1">
                <a:solidFill>
                  <a:srgbClr val="06B6D4"/>
                </a:solidFill>
                <a:latin typeface="Inter"/>
              </a:defRPr>
            </a:pPr>
            <a:r>
              <a:t>Target: &gt; 3.0 :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01168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0"/>
          <a:lstStyle/>
          <a:p>
            <a:pPr algn="ctr">
              <a:defRPr sz="1200" b="1">
                <a:solidFill>
                  <a:srgbClr val="2563EB"/>
                </a:solidFill>
                <a:latin typeface="Inter"/>
              </a:defRPr>
            </a:pPr>
            <a:r>
              <a:t>NET REVENUE RETENTION</a:t>
            </a:r>
          </a:p>
          <a:p>
            <a:pPr algn="ctr">
              <a:spcBef>
                <a:spcPts val="2000"/>
              </a:spcBef>
              <a:defRPr sz="4400" b="1">
                <a:solidFill>
                  <a:srgbClr val="1E40AF"/>
                </a:solidFill>
                <a:latin typeface="Poppins"/>
              </a:defRPr>
            </a:pPr>
            <a:r>
              <a:t>112%</a:t>
            </a:r>
          </a:p>
          <a:p>
            <a:pPr algn="ctr">
              <a:spcBef>
                <a:spcPts val="2000"/>
              </a:spcBef>
              <a:defRPr sz="1200" b="1">
                <a:solidFill>
                  <a:srgbClr val="06B6D4"/>
                </a:solidFill>
                <a:latin typeface="Inter"/>
              </a:defRPr>
            </a:pPr>
            <a:r>
              <a:t>Target: &gt; 105%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201168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0"/>
          <a:lstStyle/>
          <a:p>
            <a:pPr algn="ctr">
              <a:defRPr sz="1200" b="1">
                <a:solidFill>
                  <a:srgbClr val="2563EB"/>
                </a:solidFill>
                <a:latin typeface="Inter"/>
              </a:defRPr>
            </a:pPr>
            <a:r>
              <a:t>MONTHLY LOGO CHURN</a:t>
            </a:r>
          </a:p>
          <a:p>
            <a:pPr algn="ctr">
              <a:spcBef>
                <a:spcPts val="2000"/>
              </a:spcBef>
              <a:defRPr sz="4400" b="1">
                <a:solidFill>
                  <a:srgbClr val="1E40AF"/>
                </a:solidFill>
                <a:latin typeface="Poppins"/>
              </a:defRPr>
            </a:pPr>
            <a:r>
              <a:t>2.4%</a:t>
            </a:r>
          </a:p>
          <a:p>
            <a:pPr algn="ctr">
              <a:spcBef>
                <a:spcPts val="2000"/>
              </a:spcBef>
              <a:defRPr sz="1200" b="1">
                <a:solidFill>
                  <a:srgbClr val="06B6D4"/>
                </a:solidFill>
                <a:latin typeface="Inter"/>
              </a:defRPr>
            </a:pPr>
            <a:r>
              <a:t>Target: &lt; 3.0%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Poppins"/>
              </a:defRPr>
            </a:pPr>
            <a:r>
              <a:t>12-MONTH GROWTH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800" b="1">
                <a:solidFill>
                  <a:srgbClr val="06B6D4"/>
                </a:solidFill>
                <a:latin typeface="Poppins"/>
              </a:defRPr>
            </a:pPr>
            <a:r>
              <a:t>Q1: Infrastructure Setup</a:t>
            </a:r>
          </a:p>
          <a:p>
            <a:pPr>
              <a:defRPr sz="1400">
                <a:solidFill>
                  <a:srgbClr val="FFFFFF"/>
                </a:solidFill>
                <a:latin typeface="Inter"/>
              </a:defRPr>
            </a:pPr>
            <a:r>
              <a:t>Configure CRM/analytics systems, perform message tests, and optimize high-priority signups.</a:t>
            </a:r>
          </a:p>
          <a:p>
            <a:pPr>
              <a:spcBef>
                <a:spcPts val="2000"/>
              </a:spcBef>
              <a:spcAft>
                <a:spcPts val="400"/>
              </a:spcAft>
              <a:defRPr sz="1800" b="1">
                <a:solidFill>
                  <a:srgbClr val="06B6D4"/>
                </a:solidFill>
                <a:latin typeface="Poppins"/>
              </a:defRPr>
            </a:pPr>
            <a:r>
              <a:t>Q2: SEO &amp; Content Launch</a:t>
            </a:r>
          </a:p>
          <a:p>
            <a:pPr>
              <a:defRPr sz="1400">
                <a:solidFill>
                  <a:srgbClr val="FFFFFF"/>
                </a:solidFill>
                <a:latin typeface="Inter"/>
              </a:defRPr>
            </a:pPr>
            <a:r>
              <a:t>Begin high-intent compare campaigns and deploy central knowledge content pages.</a:t>
            </a:r>
          </a:p>
          <a:p>
            <a:pPr>
              <a:spcBef>
                <a:spcPts val="2000"/>
              </a:spcBef>
              <a:spcAft>
                <a:spcPts val="400"/>
              </a:spcAft>
              <a:defRPr sz="1800" b="1">
                <a:solidFill>
                  <a:srgbClr val="06B6D4"/>
                </a:solidFill>
                <a:latin typeface="Poppins"/>
              </a:defRPr>
            </a:pPr>
            <a:r>
              <a:t>Q3 &amp; Q4: Scaling Channels</a:t>
            </a:r>
          </a:p>
          <a:p>
            <a:pPr>
              <a:defRPr sz="1400">
                <a:solidFill>
                  <a:srgbClr val="FFFFFF"/>
                </a:solidFill>
                <a:latin typeface="Inter"/>
              </a:defRPr>
            </a:pPr>
            <a:r>
              <a:t>Launch search ads, scale programmatic organic search outputs, and enable user virality points.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Poppins"/>
              </a:defRPr>
            </a:pPr>
            <a:r>
              <a:t>SCALE YOUR SAAS VENTURE</a:t>
            </a:r>
          </a:p>
          <a:p>
            <a:pPr algn="ctr">
              <a:spcBef>
                <a:spcPts val="1000"/>
              </a:spcBef>
              <a:defRPr sz="1800">
                <a:solidFill>
                  <a:srgbClr val="E0E7FF"/>
                </a:solidFill>
                <a:latin typeface="Inter"/>
              </a:defRPr>
            </a:pPr>
            <a:r>
              <a:t>Let's align acquisition channels, build topical authority, and accelerate revenue.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2190" y="34747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1000"/>
              </a:spcBef>
              <a:defRPr sz="1600">
                <a:solidFill>
                  <a:srgbClr val="06B6D4"/>
                </a:solidFill>
                <a:latin typeface="Inter"/>
              </a:defRPr>
            </a:pPr>
            <a:r>
              <a:t>Website: saasgrowth.com/consult</a:t>
            </a:r>
          </a:p>
          <a:p>
            <a:pPr algn="ctr">
              <a:spcBef>
                <a:spcPts val="1000"/>
              </a:spcBef>
              <a:defRPr sz="1600">
                <a:solidFill>
                  <a:srgbClr val="06B6D4"/>
                </a:solidFill>
                <a:latin typeface="Inter"/>
              </a:defRPr>
            </a:pPr>
            <a:r>
              <a:t>Email: partner@saasgrowth.com</a:t>
            </a:r>
          </a:p>
          <a:p>
            <a:pPr algn="ctr">
              <a:spcBef>
                <a:spcPts val="1000"/>
              </a:spcBef>
              <a:defRPr sz="1600">
                <a:solidFill>
                  <a:srgbClr val="06B6D4"/>
                </a:solidFill>
                <a:latin typeface="Inter"/>
              </a:defRPr>
            </a:pPr>
            <a:r>
              <a:t>Phone: 1-800-GROWTH-NOW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